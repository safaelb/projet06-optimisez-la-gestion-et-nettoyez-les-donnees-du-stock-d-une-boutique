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5" r:id="rId3"/>
    <p:sldId id="267" r:id="rId4"/>
    <p:sldId id="266" r:id="rId5"/>
    <p:sldId id="258" r:id="rId6"/>
    <p:sldId id="269" r:id="rId7"/>
    <p:sldId id="259" r:id="rId8"/>
    <p:sldId id="274" r:id="rId9"/>
    <p:sldId id="271" r:id="rId10"/>
    <p:sldId id="260" r:id="rId11"/>
    <p:sldId id="272" r:id="rId12"/>
    <p:sldId id="275" r:id="rId13"/>
    <p:sldId id="276" r:id="rId14"/>
    <p:sldId id="278" r:id="rId15"/>
    <p:sldId id="280" r:id="rId16"/>
    <p:sldId id="279" r:id="rId17"/>
    <p:sldId id="277" r:id="rId18"/>
    <p:sldId id="261" r:id="rId19"/>
    <p:sldId id="262" r:id="rId20"/>
  </p:sldIdLst>
  <p:sldSz cx="9144000" cy="5143500" type="screen16x9"/>
  <p:notesSz cx="6858000" cy="9144000"/>
  <p:embeddedFontLst>
    <p:embeddedFont>
      <p:font typeface="Montserrat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7" d="100"/>
          <a:sy n="37" d="100"/>
        </p:scale>
        <p:origin x="821" y="-43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795624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6748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7395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3260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8822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217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5812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817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2877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6951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8815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71859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5037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562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15273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12232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10149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0042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3805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8430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735278" y="1645176"/>
            <a:ext cx="7983300" cy="1207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62500" lnSpcReduction="20000"/>
          </a:bodyPr>
          <a:lstStyle/>
          <a:p>
            <a:pPr lvl="0" algn="ctr">
              <a:buSzPct val="100000"/>
            </a:pPr>
            <a:r>
              <a:rPr lang="fr-FR" sz="5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Optimisez la gestion &amp; nettoyez les données du stock d'une boutique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LABHIH SAFAE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5045164" y="3927069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algn="ctr">
              <a:buSzPct val="100000"/>
            </a:pPr>
            <a:r>
              <a:rPr lang="fr-FR" sz="2800" cap="all" dirty="0"/>
              <a:t/>
            </a:r>
            <a:br>
              <a:rPr lang="fr-FR" sz="2800" cap="all" dirty="0"/>
            </a:br>
            <a:r>
              <a:rPr lang="fr-FR" sz="5500" dirty="0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Business Intelligence </a:t>
            </a:r>
            <a:r>
              <a:rPr lang="fr-FR" sz="55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Analyst</a:t>
            </a:r>
            <a:endParaRPr sz="55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algn="ctr">
              <a:buSzPct val="100000"/>
            </a:pPr>
            <a:r>
              <a:rPr lang="fr" sz="2800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08/05/2025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152994" y="1390200"/>
            <a:ext cx="8934994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fr-FR" b="1" u="sng" dirty="0" smtClean="0"/>
              <a:t>Introduction </a:t>
            </a:r>
            <a:r>
              <a:rPr lang="fr-FR" b="1" u="sng" dirty="0"/>
              <a:t>à la </a:t>
            </a:r>
            <a:r>
              <a:rPr lang="fr-FR" b="1" u="sng" dirty="0" smtClean="0"/>
              <a:t>mission:</a:t>
            </a:r>
            <a:endParaRPr lang="fr-FR" b="1" u="sng" dirty="0"/>
          </a:p>
          <a:p>
            <a:pPr marL="114300" indent="0">
              <a:buNone/>
            </a:pPr>
            <a:endParaRPr lang="fr-FR" dirty="0" smtClean="0"/>
          </a:p>
          <a:p>
            <a:pPr marL="114300" indent="0">
              <a:buNone/>
            </a:pPr>
            <a:r>
              <a:rPr lang="fr-FR" dirty="0" smtClean="0"/>
              <a:t>-</a:t>
            </a:r>
            <a:r>
              <a:rPr lang="fr-FR" b="1" dirty="0" smtClean="0"/>
              <a:t> </a:t>
            </a:r>
            <a:r>
              <a:rPr lang="fr-FR" sz="1300" b="1" dirty="0" smtClean="0"/>
              <a:t>Contexte </a:t>
            </a:r>
            <a:r>
              <a:rPr lang="fr-FR" sz="1300" b="1" dirty="0"/>
              <a:t>:</a:t>
            </a:r>
            <a:r>
              <a:rPr lang="fr-FR" sz="1300" dirty="0"/>
              <a:t> </a:t>
            </a:r>
            <a:r>
              <a:rPr lang="fr-FR" dirty="0" smtClean="0"/>
              <a:t>Entreprise </a:t>
            </a:r>
            <a:r>
              <a:rPr lang="fr-FR" dirty="0"/>
              <a:t>: </a:t>
            </a:r>
            <a:r>
              <a:rPr lang="fr-FR" dirty="0" err="1"/>
              <a:t>Bottleneck</a:t>
            </a:r>
            <a:r>
              <a:rPr lang="fr-FR" dirty="0"/>
              <a:t>, vente de vin.</a:t>
            </a:r>
          </a:p>
          <a:p>
            <a:pPr marL="114300" indent="0">
              <a:buNone/>
            </a:pPr>
            <a:r>
              <a:rPr lang="fr-FR" sz="1300" b="1" dirty="0" smtClean="0"/>
              <a:t>- Objectif</a:t>
            </a:r>
            <a:r>
              <a:rPr lang="fr-FR" dirty="0" smtClean="0"/>
              <a:t> </a:t>
            </a:r>
            <a:r>
              <a:rPr lang="fr-FR" dirty="0"/>
              <a:t>: Analyse des stocks &amp; ventes, détection d’erreurs, propositions d'améliorations.</a:t>
            </a:r>
          </a:p>
          <a:p>
            <a:pPr marL="114300" indent="0">
              <a:buNone/>
            </a:pPr>
            <a:r>
              <a:rPr lang="fr-FR" sz="1300" b="1" dirty="0" smtClean="0"/>
              <a:t>- Phases</a:t>
            </a:r>
            <a:r>
              <a:rPr lang="fr-FR" dirty="0" smtClean="0"/>
              <a:t> :</a:t>
            </a:r>
          </a:p>
          <a:p>
            <a:r>
              <a:rPr lang="fr-FR" dirty="0" smtClean="0"/>
              <a:t>Phase </a:t>
            </a:r>
            <a:r>
              <a:rPr lang="fr-FR" dirty="0"/>
              <a:t>1 : Agrégation des sources (ERP, Web, liaison)</a:t>
            </a:r>
          </a:p>
          <a:p>
            <a:r>
              <a:rPr lang="fr-FR" dirty="0" smtClean="0"/>
              <a:t>Phase </a:t>
            </a:r>
            <a:r>
              <a:rPr lang="fr-FR" dirty="0"/>
              <a:t>2 : Analyse pour le CODIR</a:t>
            </a:r>
          </a:p>
          <a:p>
            <a:pPr marL="114300" indent="0">
              <a:buNone/>
            </a:pPr>
            <a:endParaRPr lang="fr-FR" dirty="0"/>
          </a:p>
          <a:p>
            <a:pPr marL="114300" indent="0">
              <a:buNone/>
            </a:pPr>
            <a:r>
              <a:rPr lang="fr-FR" b="1" u="sng" dirty="0"/>
              <a:t>Analyse Exploratoire des Données:</a:t>
            </a:r>
          </a:p>
          <a:p>
            <a:pPr marL="114300" indent="0">
              <a:buNone/>
            </a:pPr>
            <a:r>
              <a:rPr lang="fr-FR" b="1" dirty="0"/>
              <a:t>-</a:t>
            </a:r>
            <a:r>
              <a:rPr lang="fr-FR" sz="1300" b="1" dirty="0" err="1" smtClean="0"/>
              <a:t>Datasets</a:t>
            </a:r>
            <a:r>
              <a:rPr lang="fr-FR" sz="1300" b="1" dirty="0" smtClean="0"/>
              <a:t>:</a:t>
            </a:r>
            <a:endParaRPr lang="fr-FR" sz="1300" b="1" dirty="0"/>
          </a:p>
          <a:p>
            <a:r>
              <a:rPr lang="fr-FR" sz="1300" b="1" dirty="0"/>
              <a:t>Données extraites :</a:t>
            </a:r>
            <a:endParaRPr lang="fr-FR" sz="1300" dirty="0"/>
          </a:p>
          <a:p>
            <a:pPr lvl="1"/>
            <a:r>
              <a:rPr lang="fr-FR" dirty="0"/>
              <a:t>Extraction de l'ERP : Référence produit, prix, état du stock.</a:t>
            </a:r>
          </a:p>
          <a:p>
            <a:pPr lvl="1"/>
            <a:r>
              <a:rPr lang="fr-FR" dirty="0"/>
              <a:t>Extraction du site Web : SKU, quantités vendues, descriptions produits.</a:t>
            </a:r>
          </a:p>
          <a:p>
            <a:pPr lvl="1"/>
            <a:r>
              <a:rPr lang="fr-FR" dirty="0"/>
              <a:t>Table de liaison : Correspondance entre la base de données </a:t>
            </a:r>
            <a:r>
              <a:rPr lang="fr-FR" dirty="0" err="1"/>
              <a:t>Wordpress</a:t>
            </a:r>
            <a:r>
              <a:rPr lang="fr-FR" dirty="0"/>
              <a:t> et l'ERP.</a:t>
            </a:r>
          </a:p>
          <a:p>
            <a:endParaRPr lang="fr-FR" dirty="0"/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7104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152994" y="1390200"/>
            <a:ext cx="8934994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indent="0">
              <a:buNone/>
            </a:pPr>
            <a:r>
              <a:rPr lang="fr-FR" b="1" u="sng" dirty="0" smtClean="0"/>
              <a:t>Caractéristiques </a:t>
            </a:r>
            <a:r>
              <a:rPr lang="fr-FR" b="1" u="sng" dirty="0"/>
              <a:t>des </a:t>
            </a:r>
            <a:r>
              <a:rPr lang="fr-FR" b="1" u="sng" dirty="0" smtClean="0"/>
              <a:t>Données:</a:t>
            </a:r>
            <a:endParaRPr lang="fr-FR" b="1" u="sng" dirty="0"/>
          </a:p>
          <a:p>
            <a:r>
              <a:rPr lang="fr-FR" dirty="0"/>
              <a:t>Types de données (quantitatives, qualitatives).</a:t>
            </a:r>
          </a:p>
          <a:p>
            <a:r>
              <a:rPr lang="fr-FR" dirty="0"/>
              <a:t>Période d'extraction :</a:t>
            </a:r>
          </a:p>
          <a:p>
            <a:pPr lvl="1"/>
            <a:r>
              <a:rPr lang="fr-FR" dirty="0"/>
              <a:t>Données ERP : 31 octobre.</a:t>
            </a:r>
          </a:p>
          <a:p>
            <a:pPr lvl="1"/>
            <a:r>
              <a:rPr lang="fr-FR" dirty="0"/>
              <a:t>Données ventes : 1er octobre au 31 octobre.</a:t>
            </a:r>
          </a:p>
          <a:p>
            <a:pPr marL="114300" indent="0">
              <a:buNone/>
            </a:pPr>
            <a:endParaRPr lang="fr-FR" dirty="0" smtClean="0"/>
          </a:p>
          <a:p>
            <a:pPr marL="114300" indent="0">
              <a:buNone/>
            </a:pPr>
            <a:r>
              <a:rPr lang="fr-FR" b="1" u="sng" dirty="0" smtClean="0"/>
              <a:t>Traitements </a:t>
            </a:r>
            <a:r>
              <a:rPr lang="fr-FR" b="1" u="sng" dirty="0"/>
              <a:t>Réalisés:</a:t>
            </a:r>
          </a:p>
          <a:p>
            <a:r>
              <a:rPr lang="fr-FR" dirty="0" smtClean="0"/>
              <a:t>Méthodologie </a:t>
            </a:r>
            <a:r>
              <a:rPr lang="fr-FR" dirty="0"/>
              <a:t>: Nettoyage, jointure, </a:t>
            </a:r>
            <a:r>
              <a:rPr lang="fr-FR" dirty="0" smtClean="0"/>
              <a:t>transformation.</a:t>
            </a:r>
            <a:endParaRPr lang="fr-FR" dirty="0"/>
          </a:p>
          <a:p>
            <a:endParaRPr lang="fr-FR" dirty="0"/>
          </a:p>
          <a:p>
            <a:pPr marL="114300" lvl="1" indent="0">
              <a:buSzPts val="1800"/>
              <a:buNone/>
            </a:pPr>
            <a:r>
              <a:rPr lang="fr-FR" sz="1800" b="1" u="sng" dirty="0" err="1" smtClean="0"/>
              <a:t>Feature</a:t>
            </a:r>
            <a:r>
              <a:rPr lang="fr-FR" sz="1800" b="1" u="sng" dirty="0" smtClean="0"/>
              <a:t> </a:t>
            </a:r>
            <a:r>
              <a:rPr lang="fr-FR" sz="1800" b="1" u="sng" dirty="0"/>
              <a:t>Engineering:</a:t>
            </a:r>
          </a:p>
          <a:p>
            <a:pPr lvl="1"/>
            <a:r>
              <a:rPr lang="fr-FR" dirty="0"/>
              <a:t>Création de nouvelles variables utiles pour l'analyse (exemples : marge brute, rotation des stocks, etc.).</a:t>
            </a:r>
          </a:p>
          <a:p>
            <a:pPr lvl="1"/>
            <a:r>
              <a:rPr lang="fr-FR" dirty="0"/>
              <a:t>Transformations des données pour faciliter l’analyse (exemples : dates en format standard, ajustement des prix, etc.).</a:t>
            </a:r>
          </a:p>
          <a:p>
            <a:endParaRPr lang="fr-FR" dirty="0"/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0629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152994" y="1390200"/>
            <a:ext cx="8934994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fr-FR" b="1" u="sng" dirty="0" smtClean="0"/>
              <a:t>Erreurs </a:t>
            </a:r>
            <a:r>
              <a:rPr lang="fr-FR" b="1" u="sng" dirty="0"/>
              <a:t>et Difficultés </a:t>
            </a:r>
            <a:r>
              <a:rPr lang="fr-FR" b="1" u="sng" dirty="0" smtClean="0"/>
              <a:t>Rencontrées:</a:t>
            </a:r>
            <a:endParaRPr lang="fr-FR" b="1" u="sng" dirty="0"/>
          </a:p>
          <a:p>
            <a:endParaRPr lang="fr-FR" sz="1400" b="1" dirty="0"/>
          </a:p>
          <a:p>
            <a:r>
              <a:rPr lang="fr-FR" sz="1400" b="1" dirty="0" smtClean="0"/>
              <a:t>Exemples </a:t>
            </a:r>
            <a:r>
              <a:rPr lang="fr-FR" sz="1400" b="1" dirty="0"/>
              <a:t>d'erreurs identifiées :</a:t>
            </a:r>
            <a:endParaRPr lang="fr-FR" sz="1400" dirty="0"/>
          </a:p>
          <a:p>
            <a:pPr lvl="1"/>
            <a:r>
              <a:rPr lang="fr-FR" dirty="0"/>
              <a:t>Incohérences entre les numéros de référence ERP et le site Web.</a:t>
            </a:r>
          </a:p>
          <a:p>
            <a:pPr lvl="1"/>
            <a:r>
              <a:rPr lang="fr-FR" dirty="0"/>
              <a:t>Erreurs de saisie dans les prix</a:t>
            </a:r>
            <a:r>
              <a:rPr lang="fr-FR" dirty="0" smtClean="0"/>
              <a:t>.</a:t>
            </a:r>
          </a:p>
          <a:p>
            <a:pPr lvl="1"/>
            <a:r>
              <a:rPr lang="fr-FR" dirty="0"/>
              <a:t>champs </a:t>
            </a:r>
            <a:r>
              <a:rPr lang="fr-FR" dirty="0" smtClean="0"/>
              <a:t>manquants.</a:t>
            </a:r>
          </a:p>
          <a:p>
            <a:pPr lvl="1"/>
            <a:r>
              <a:rPr lang="fr-FR" dirty="0"/>
              <a:t>Données manquantes dans certaines </a:t>
            </a:r>
            <a:r>
              <a:rPr lang="fr-FR" dirty="0" smtClean="0"/>
              <a:t>colonnes.</a:t>
            </a:r>
            <a:endParaRPr lang="fr-FR" dirty="0"/>
          </a:p>
          <a:p>
            <a:pPr marL="114300" indent="0">
              <a:buNone/>
            </a:pPr>
            <a:r>
              <a:rPr lang="fr-FR" dirty="0" smtClean="0"/>
              <a:t> </a:t>
            </a:r>
            <a:r>
              <a:rPr lang="fr-FR" b="1" dirty="0" smtClean="0"/>
              <a:t> </a:t>
            </a:r>
            <a:r>
              <a:rPr lang="fr-FR" b="1" u="sng" dirty="0" smtClean="0"/>
              <a:t>Solutions </a:t>
            </a:r>
            <a:r>
              <a:rPr lang="fr-FR" b="1" u="sng" dirty="0"/>
              <a:t>proposées :</a:t>
            </a:r>
            <a:endParaRPr lang="fr-FR" u="sng" dirty="0"/>
          </a:p>
          <a:p>
            <a:pPr lvl="1"/>
            <a:r>
              <a:rPr lang="fr-FR" dirty="0"/>
              <a:t>Validation des données par le biais de scripts automatisés pour déceler les incohérences.</a:t>
            </a:r>
          </a:p>
          <a:p>
            <a:pPr lvl="1"/>
            <a:r>
              <a:rPr lang="fr-FR" dirty="0"/>
              <a:t>Nettoyage manuel pour les erreurs critiques</a:t>
            </a:r>
            <a:r>
              <a:rPr lang="fr-FR" dirty="0" smtClean="0"/>
              <a:t>.</a:t>
            </a:r>
          </a:p>
          <a:p>
            <a:pPr marL="114300" indent="0">
              <a:buNone/>
            </a:pPr>
            <a:r>
              <a:rPr lang="fr-FR" b="1" u="sng" dirty="0"/>
              <a:t>Recommandations :</a:t>
            </a:r>
            <a:endParaRPr lang="fr-FR" u="sng" dirty="0"/>
          </a:p>
          <a:p>
            <a:pPr lvl="1"/>
            <a:r>
              <a:rPr lang="fr-FR" dirty="0"/>
              <a:t>Implémentation de solutions pour améliorer la qualité des données à long terme.</a:t>
            </a:r>
          </a:p>
          <a:p>
            <a:pPr lvl="1"/>
            <a:r>
              <a:rPr lang="fr-FR" dirty="0"/>
              <a:t>Développement de nouvelles analyses pour la visualisation des données.</a:t>
            </a:r>
          </a:p>
          <a:p>
            <a:pPr lvl="1"/>
            <a:endParaRPr lang="fr-FR" dirty="0"/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2898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114300" indent="0">
              <a:buNone/>
            </a:pPr>
            <a:r>
              <a:rPr lang="fr-FR" b="1" u="sng" dirty="0" smtClean="0"/>
              <a:t>Choix </a:t>
            </a:r>
            <a:r>
              <a:rPr lang="fr-FR" b="1" u="sng" dirty="0"/>
              <a:t>des </a:t>
            </a:r>
            <a:r>
              <a:rPr lang="fr-FR" b="1" u="sng" dirty="0" smtClean="0"/>
              <a:t>Attributs:</a:t>
            </a:r>
            <a:endParaRPr lang="fr-FR" b="1" u="sng" dirty="0"/>
          </a:p>
          <a:p>
            <a:pPr marL="114300" indent="0">
              <a:buNone/>
            </a:pPr>
            <a:endParaRPr lang="fr-FR" b="1" dirty="0"/>
          </a:p>
          <a:p>
            <a:pPr marL="114300" indent="0">
              <a:buNone/>
            </a:pPr>
            <a:r>
              <a:rPr lang="fr-FR" b="1" dirty="0" smtClean="0"/>
              <a:t>- Objectif </a:t>
            </a:r>
            <a:r>
              <a:rPr lang="fr-FR" b="1" dirty="0"/>
              <a:t>:</a:t>
            </a:r>
            <a:r>
              <a:rPr lang="fr-FR" dirty="0"/>
              <a:t> </a:t>
            </a:r>
            <a:r>
              <a:rPr lang="fr-FR" sz="2000" dirty="0"/>
              <a:t>Identifier les champs communs entre les sources (ERP, Web, liaison).</a:t>
            </a:r>
          </a:p>
          <a:p>
            <a:r>
              <a:rPr lang="fr-FR" b="1" dirty="0"/>
              <a:t>Attributs retenus :</a:t>
            </a:r>
            <a:endParaRPr lang="fr-FR" dirty="0"/>
          </a:p>
          <a:p>
            <a:pPr lvl="1">
              <a:lnSpc>
                <a:spcPct val="135000"/>
              </a:lnSpc>
            </a:pPr>
            <a:r>
              <a:rPr lang="fr-FR" sz="2000" dirty="0"/>
              <a:t>Référence produit (ERP)</a:t>
            </a:r>
          </a:p>
          <a:p>
            <a:pPr lvl="1">
              <a:lnSpc>
                <a:spcPct val="135000"/>
              </a:lnSpc>
            </a:pPr>
            <a:r>
              <a:rPr lang="fr-FR" sz="2000" dirty="0"/>
              <a:t>SKU (Web)</a:t>
            </a:r>
          </a:p>
          <a:p>
            <a:pPr lvl="1">
              <a:lnSpc>
                <a:spcPct val="135000"/>
              </a:lnSpc>
            </a:pPr>
            <a:r>
              <a:rPr lang="fr-FR" sz="2000" dirty="0"/>
              <a:t>Code de correspondance (Table de liaison)</a:t>
            </a:r>
          </a:p>
          <a:p>
            <a:pPr lvl="1">
              <a:lnSpc>
                <a:spcPct val="135000"/>
              </a:lnSpc>
            </a:pPr>
            <a:r>
              <a:rPr lang="fr-FR" sz="2000" dirty="0"/>
              <a:t>Quantité vendue, prix, stock, etc.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dirty="0"/>
          </a:p>
          <a:p>
            <a:pPr marL="114300" lvl="0" indent="0">
              <a:buNone/>
            </a:pPr>
            <a:r>
              <a:rPr lang="fr-FR" sz="1900" b="1" u="sng" dirty="0" smtClean="0">
                <a:sym typeface="Montserrat"/>
              </a:rPr>
              <a:t>Clés Utilisées:</a:t>
            </a:r>
            <a:endParaRPr lang="fr-FR" sz="1900" b="1" u="sng" dirty="0">
              <a:sym typeface="Montserrat"/>
            </a:endParaRPr>
          </a:p>
          <a:p>
            <a:pPr lvl="1"/>
            <a:endParaRPr lang="fr-FR" dirty="0" smtClean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lnSpc>
                <a:spcPct val="135000"/>
              </a:lnSpc>
            </a:pPr>
            <a:r>
              <a:rPr lang="fr-FR" sz="1900" b="1" dirty="0">
                <a:sym typeface="Montserrat"/>
              </a:rPr>
              <a:t>Clé principale de jointure : </a:t>
            </a:r>
            <a:r>
              <a:rPr lang="fr-FR" sz="2100" dirty="0">
                <a:sym typeface="Montserrat"/>
              </a:rPr>
              <a:t>SKU (Web) ⇄ SKU_LIAISON (Table de liaison) ⇄ Référence produit (ERP)</a:t>
            </a:r>
          </a:p>
          <a:p>
            <a:pPr marL="114300" lvl="0" indent="0">
              <a:buClr>
                <a:srgbClr val="434343"/>
              </a:buClr>
              <a:buNone/>
            </a:pPr>
            <a:endParaRPr lang="fr-FR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lvl="0" indent="0">
              <a:buNone/>
            </a:pPr>
            <a:r>
              <a:rPr lang="fr-FR" sz="1900" b="1" u="sng" dirty="0">
                <a:sym typeface="Montserrat"/>
              </a:rPr>
              <a:t>Type de jointures réalisées :</a:t>
            </a:r>
          </a:p>
          <a:p>
            <a:pPr marL="114300" lvl="0" indent="0">
              <a:buClr>
                <a:srgbClr val="434343"/>
              </a:buClr>
              <a:buNone/>
            </a:pPr>
            <a:endParaRPr lang="fr-FR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1">
              <a:lnSpc>
                <a:spcPct val="135000"/>
              </a:lnSpc>
            </a:pPr>
            <a:r>
              <a:rPr lang="fr-FR" sz="2200" dirty="0" err="1">
                <a:sym typeface="Montserrat"/>
              </a:rPr>
              <a:t>Inner</a:t>
            </a:r>
            <a:r>
              <a:rPr lang="fr-FR" sz="2200" dirty="0">
                <a:sym typeface="Montserrat"/>
              </a:rPr>
              <a:t> </a:t>
            </a:r>
            <a:r>
              <a:rPr lang="fr-FR" sz="2200" dirty="0" err="1">
                <a:sym typeface="Montserrat"/>
              </a:rPr>
              <a:t>Join</a:t>
            </a:r>
            <a:r>
              <a:rPr lang="fr-FR" sz="2200" dirty="0">
                <a:sym typeface="Montserrat"/>
              </a:rPr>
              <a:t> (pour les analyses fiables)</a:t>
            </a:r>
          </a:p>
          <a:p>
            <a:pPr lvl="1">
              <a:lnSpc>
                <a:spcPct val="135000"/>
              </a:lnSpc>
            </a:pPr>
            <a:endParaRPr lang="fr-FR" sz="2200" dirty="0">
              <a:sym typeface="Montserrat"/>
            </a:endParaRPr>
          </a:p>
          <a:p>
            <a:pPr lvl="1">
              <a:lnSpc>
                <a:spcPct val="135000"/>
              </a:lnSpc>
            </a:pPr>
            <a:r>
              <a:rPr lang="fr-FR" sz="2200" dirty="0" err="1">
                <a:sym typeface="Montserrat"/>
              </a:rPr>
              <a:t>Left</a:t>
            </a:r>
            <a:r>
              <a:rPr lang="fr-FR" sz="2200" dirty="0">
                <a:sym typeface="Montserrat"/>
              </a:rPr>
              <a:t> </a:t>
            </a:r>
            <a:r>
              <a:rPr lang="fr-FR" sz="2200" dirty="0" err="1">
                <a:sym typeface="Montserrat"/>
              </a:rPr>
              <a:t>Join</a:t>
            </a:r>
            <a:r>
              <a:rPr lang="fr-FR" sz="2200" dirty="0">
                <a:sym typeface="Montserrat"/>
              </a:rPr>
              <a:t> (pour repérer les écarts ou les données manquantes)</a:t>
            </a:r>
            <a:endParaRPr sz="2200" dirty="0"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-6927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lnSpc>
                <a:spcPct val="95000"/>
              </a:lnSpc>
              <a:buNone/>
            </a:pPr>
            <a:r>
              <a:rPr lang="fr-FR" sz="1500" b="1" u="sng" dirty="0" smtClean="0"/>
              <a:t>Vigilances Particulières:</a:t>
            </a:r>
            <a:endParaRPr lang="fr-FR" sz="1500" b="1" u="sng" dirty="0"/>
          </a:p>
          <a:p>
            <a:pPr lvl="1">
              <a:lnSpc>
                <a:spcPct val="95000"/>
              </a:lnSpc>
            </a:pPr>
            <a:r>
              <a:rPr lang="fr-FR" sz="1200" dirty="0"/>
              <a:t>Normalisation des formats (SKU, codes produits, majuscules/minuscules)</a:t>
            </a:r>
          </a:p>
          <a:p>
            <a:pPr lvl="1">
              <a:lnSpc>
                <a:spcPct val="95000"/>
              </a:lnSpc>
            </a:pPr>
            <a:endParaRPr lang="fr-FR" sz="1200" dirty="0"/>
          </a:p>
          <a:p>
            <a:pPr lvl="1">
              <a:lnSpc>
                <a:spcPct val="95000"/>
              </a:lnSpc>
            </a:pPr>
            <a:r>
              <a:rPr lang="fr-FR" sz="1200" dirty="0"/>
              <a:t>Uniformisation des types (ex : texte vs numérique)</a:t>
            </a:r>
          </a:p>
          <a:p>
            <a:pPr lvl="1">
              <a:lnSpc>
                <a:spcPct val="95000"/>
              </a:lnSpc>
            </a:pPr>
            <a:endParaRPr lang="fr-FR" sz="1200" dirty="0"/>
          </a:p>
          <a:p>
            <a:pPr lvl="1">
              <a:lnSpc>
                <a:spcPct val="95000"/>
              </a:lnSpc>
            </a:pPr>
            <a:r>
              <a:rPr lang="fr-FR" sz="1200" dirty="0"/>
              <a:t>Vérification des doublons dans la table de liaison</a:t>
            </a:r>
          </a:p>
          <a:p>
            <a:pPr lvl="1">
              <a:lnSpc>
                <a:spcPct val="95000"/>
              </a:lnSpc>
            </a:pPr>
            <a:endParaRPr lang="fr-FR" sz="1200" dirty="0"/>
          </a:p>
          <a:p>
            <a:pPr lvl="1">
              <a:lnSpc>
                <a:spcPct val="95000"/>
              </a:lnSpc>
            </a:pPr>
            <a:r>
              <a:rPr lang="fr-FR" sz="1200" dirty="0"/>
              <a:t>Gestion des produits présents uniquement dans une source (site Web mais pas ERP par exemple</a:t>
            </a:r>
            <a:r>
              <a:rPr lang="fr-FR" sz="1200" dirty="0" smtClean="0"/>
              <a:t>)</a:t>
            </a:r>
          </a:p>
          <a:p>
            <a:pPr lvl="1">
              <a:lnSpc>
                <a:spcPct val="95000"/>
              </a:lnSpc>
            </a:pPr>
            <a:endParaRPr lang="fr-FR" sz="1200" u="sng" dirty="0"/>
          </a:p>
          <a:p>
            <a:pPr marL="114300" lvl="1" indent="0">
              <a:lnSpc>
                <a:spcPct val="95000"/>
              </a:lnSpc>
              <a:buSzPts val="1800"/>
              <a:buNone/>
            </a:pPr>
            <a:r>
              <a:rPr lang="fr-FR" sz="1500" b="1" u="sng" dirty="0"/>
              <a:t> </a:t>
            </a:r>
            <a:r>
              <a:rPr lang="fr-FR" sz="1500" b="1" u="sng" dirty="0" smtClean="0"/>
              <a:t>Difficultés </a:t>
            </a:r>
            <a:r>
              <a:rPr lang="fr-FR" sz="1500" b="1" u="sng" dirty="0"/>
              <a:t>ou Pièges </a:t>
            </a:r>
            <a:r>
              <a:rPr lang="fr-FR" sz="1500" b="1" u="sng" dirty="0" smtClean="0"/>
              <a:t>Rencontrés:</a:t>
            </a:r>
            <a:endParaRPr lang="fr-FR" sz="1500" b="1" u="sng" dirty="0"/>
          </a:p>
          <a:p>
            <a:pPr lvl="1">
              <a:lnSpc>
                <a:spcPct val="95000"/>
              </a:lnSpc>
            </a:pPr>
            <a:r>
              <a:rPr lang="fr-FR" sz="1200" dirty="0"/>
              <a:t>Correspondances incomplètes : certains SKU du site n’ont pas de correspondance directe dans l’ERP.</a:t>
            </a:r>
          </a:p>
          <a:p>
            <a:pPr lvl="1">
              <a:lnSpc>
                <a:spcPct val="95000"/>
              </a:lnSpc>
            </a:pPr>
            <a:endParaRPr lang="fr-FR" sz="1200" dirty="0"/>
          </a:p>
          <a:p>
            <a:pPr lvl="1">
              <a:lnSpc>
                <a:spcPct val="95000"/>
              </a:lnSpc>
            </a:pPr>
            <a:r>
              <a:rPr lang="fr-FR" sz="1200" dirty="0"/>
              <a:t>Erreurs de saisie : noms de produits légèrement différents → difficulté de </a:t>
            </a:r>
            <a:r>
              <a:rPr lang="fr-FR" sz="1200" dirty="0" err="1"/>
              <a:t>matching</a:t>
            </a:r>
            <a:r>
              <a:rPr lang="fr-FR" sz="1200" dirty="0"/>
              <a:t> automatique.</a:t>
            </a:r>
          </a:p>
          <a:p>
            <a:pPr lvl="1">
              <a:lnSpc>
                <a:spcPct val="95000"/>
              </a:lnSpc>
            </a:pPr>
            <a:endParaRPr lang="fr-FR" sz="1200" dirty="0"/>
          </a:p>
          <a:p>
            <a:pPr lvl="1">
              <a:lnSpc>
                <a:spcPct val="95000"/>
              </a:lnSpc>
            </a:pPr>
            <a:r>
              <a:rPr lang="fr-FR" sz="1200" dirty="0"/>
              <a:t>Champs vides ou mal formatés (ex : dates non standardisées).</a:t>
            </a:r>
          </a:p>
          <a:p>
            <a:pPr lvl="1">
              <a:lnSpc>
                <a:spcPct val="95000"/>
              </a:lnSpc>
            </a:pPr>
            <a:endParaRPr lang="fr-FR" sz="1200" dirty="0"/>
          </a:p>
          <a:p>
            <a:pPr lvl="1">
              <a:lnSpc>
                <a:spcPct val="95000"/>
              </a:lnSpc>
            </a:pPr>
            <a:r>
              <a:rPr lang="fr-FR" sz="1200" dirty="0"/>
              <a:t>Risque de perte de données avec des jointures mal pensées.</a:t>
            </a:r>
          </a:p>
        </p:txBody>
      </p:sp>
      <p:sp>
        <p:nvSpPr>
          <p:cNvPr id="72" name="Google Shape;72;p5"/>
          <p:cNvSpPr/>
          <p:nvPr/>
        </p:nvSpPr>
        <p:spPr>
          <a:xfrm>
            <a:off x="0" y="-6927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8217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-131618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Espace réservé du text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7426" y="1363955"/>
            <a:ext cx="8129148" cy="1133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114300" lvl="0" indent="0" defTabSz="914400" eaLnBrk="0" fontAlgn="base" latinLnBrk="0" hangingPunct="0">
              <a:lnSpc>
                <a:spcPct val="95000"/>
              </a:lnSpc>
              <a:buNone/>
              <a:tabLst/>
            </a:pPr>
            <a:r>
              <a:rPr lang="fr-FR" altLang="fr-FR" sz="1500" b="1" u="sng" dirty="0"/>
              <a:t>Méthodes statistiques </a:t>
            </a:r>
            <a:r>
              <a:rPr lang="fr-FR" altLang="fr-FR" sz="1500" b="1" u="sng" dirty="0" smtClean="0"/>
              <a:t>employées:</a:t>
            </a:r>
          </a:p>
          <a:p>
            <a:pPr marL="114300" lvl="0" indent="0" defTabSz="914400" eaLnBrk="0" fontAlgn="base" latinLnBrk="0" hangingPunct="0">
              <a:lnSpc>
                <a:spcPct val="95000"/>
              </a:lnSpc>
              <a:buNone/>
              <a:tabLst/>
            </a:pPr>
            <a:endParaRPr lang="fr-FR" altLang="fr-FR" sz="1500" b="1" u="sng" dirty="0"/>
          </a:p>
          <a:p>
            <a:pPr lvl="1" defTabSz="914400" eaLnBrk="0" fontAlgn="base" latinLnBrk="0" hangingPunct="0">
              <a:lnSpc>
                <a:spcPct val="95000"/>
              </a:lnSpc>
              <a:tabLst/>
            </a:pPr>
            <a:r>
              <a:rPr lang="fr-FR" altLang="fr-FR" sz="1200" dirty="0"/>
              <a:t>Visualisation : Boxplot (boîte à moustaches) pour repérer la distribution des prix et les valeurs extrêmes</a:t>
            </a:r>
          </a:p>
          <a:p>
            <a:pPr marL="596900" lvl="1" indent="0" defTabSz="914400" eaLnBrk="0" fontAlgn="base" latinLnBrk="0" hangingPunct="0">
              <a:lnSpc>
                <a:spcPct val="95000"/>
              </a:lnSpc>
              <a:buNone/>
              <a:tabLst/>
            </a:pPr>
            <a:endParaRPr lang="fr-FR" altLang="fr-FR" sz="1200" dirty="0" smtClean="0"/>
          </a:p>
          <a:p>
            <a:pPr marL="114300" indent="0">
              <a:buNone/>
            </a:pPr>
            <a:endParaRPr lang="fr-FR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768361" y="4241908"/>
            <a:ext cx="437331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Forte asymétrie → concentration entre </a:t>
            </a: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10 € et 50 €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fr-FR" sz="1200" dirty="0" smtClean="0"/>
              <a:t>présence </a:t>
            </a:r>
            <a:r>
              <a:rPr lang="fr-FR" sz="1200" dirty="0"/>
              <a:t>d’</a:t>
            </a:r>
            <a:r>
              <a:rPr lang="fr-FR" sz="1200" dirty="0" err="1"/>
              <a:t>outliers</a:t>
            </a:r>
            <a:r>
              <a:rPr lang="fr-FR" sz="1200" dirty="0"/>
              <a:t> légitimes (produits de luxe, promos</a:t>
            </a:r>
            <a:r>
              <a:rPr lang="fr-FR" sz="1200" dirty="0" smtClean="0"/>
              <a:t>)</a:t>
            </a:r>
            <a:endParaRPr kumimoji="0" lang="fr-FR" altLang="fr-FR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Présence de valeurs extrêmes au-delà de </a:t>
            </a: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80 €</a:t>
            </a:r>
            <a:r>
              <a:rPr kumimoji="0" lang="fr-FR" altLang="fr-FR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jusqu’à </a:t>
            </a:r>
            <a:r>
              <a:rPr kumimoji="0" lang="fr-FR" altLang="fr-F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217 €</a:t>
            </a:r>
            <a:endParaRPr kumimoji="0" lang="fr-FR" altLang="fr-FR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44" y="2175164"/>
            <a:ext cx="8513619" cy="2066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Espace réservé du text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6993" y="1561316"/>
            <a:ext cx="8323551" cy="388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114300" lvl="0" indent="0" defTabSz="914400" eaLnBrk="0" fontAlgn="base" latinLnBrk="0" hangingPunct="0">
              <a:lnSpc>
                <a:spcPct val="95000"/>
              </a:lnSpc>
              <a:buNone/>
              <a:tabLst/>
            </a:pPr>
            <a:r>
              <a:rPr lang="fr-FR" altLang="fr-FR" sz="1500" b="1" u="sng" dirty="0"/>
              <a:t>Méthodes statistiques </a:t>
            </a:r>
            <a:r>
              <a:rPr lang="fr-FR" altLang="fr-FR" sz="1500" b="1" u="sng" dirty="0" smtClean="0"/>
              <a:t>employées:</a:t>
            </a:r>
          </a:p>
          <a:p>
            <a:pPr marL="114300" lvl="0" indent="0" defTabSz="914400" eaLnBrk="0" fontAlgn="base" latinLnBrk="0" hangingPunct="0">
              <a:lnSpc>
                <a:spcPct val="95000"/>
              </a:lnSpc>
              <a:buNone/>
              <a:tabLst/>
            </a:pPr>
            <a:endParaRPr lang="fr-FR" altLang="fr-FR" sz="1500" b="1" u="sng" dirty="0" smtClean="0"/>
          </a:p>
          <a:p>
            <a:pPr eaLnBrk="0" fontAlgn="base" hangingPunct="0">
              <a:lnSpc>
                <a:spcPct val="95000"/>
              </a:lnSpc>
            </a:pPr>
            <a:r>
              <a:rPr lang="fr-FR" sz="1200" dirty="0" smtClean="0"/>
              <a:t>describe</a:t>
            </a:r>
            <a:r>
              <a:rPr lang="fr-FR" sz="1200" dirty="0"/>
              <a:t>() pour les mesures de dispersion :</a:t>
            </a:r>
          </a:p>
          <a:p>
            <a:pPr lvl="1" eaLnBrk="0" fontAlgn="base" hangingPunct="0">
              <a:lnSpc>
                <a:spcPct val="95000"/>
              </a:lnSpc>
            </a:pPr>
            <a:r>
              <a:rPr lang="fr-FR" sz="1200" dirty="0"/>
              <a:t>Moyenne = </a:t>
            </a:r>
            <a:r>
              <a:rPr lang="fr-FR" sz="1200" dirty="0" smtClean="0"/>
              <a:t>32,33 </a:t>
            </a:r>
            <a:r>
              <a:rPr lang="fr-FR" sz="1200" dirty="0"/>
              <a:t>€, Écart-type = 27,06 €, Min = 5,20 €, Max = </a:t>
            </a:r>
            <a:r>
              <a:rPr lang="fr-FR" sz="1200" dirty="0" smtClean="0"/>
              <a:t>225 €</a:t>
            </a:r>
          </a:p>
          <a:p>
            <a:pPr marL="457200" lvl="1" indent="-342900" eaLnBrk="0" fontAlgn="base" hangingPunct="0">
              <a:lnSpc>
                <a:spcPct val="95000"/>
              </a:lnSpc>
              <a:buSzPts val="1800"/>
              <a:buFont typeface="Arial"/>
              <a:buChar char="●"/>
            </a:pPr>
            <a:r>
              <a:rPr lang="fr-FR" sz="1200" dirty="0" smtClean="0"/>
              <a:t>Méthode </a:t>
            </a:r>
            <a:r>
              <a:rPr lang="fr-FR" sz="1200" dirty="0"/>
              <a:t>du Z-score :</a:t>
            </a:r>
          </a:p>
          <a:p>
            <a:pPr lvl="1" eaLnBrk="0" fontAlgn="base" hangingPunct="0">
              <a:lnSpc>
                <a:spcPct val="95000"/>
              </a:lnSpc>
            </a:pPr>
            <a:r>
              <a:rPr lang="fr-FR" sz="1200" dirty="0"/>
              <a:t>Seuil Z &gt; 3 = </a:t>
            </a:r>
            <a:r>
              <a:rPr lang="fr-FR" sz="1200" dirty="0" smtClean="0"/>
              <a:t>115,12 €</a:t>
            </a:r>
            <a:endParaRPr lang="fr-FR" sz="1200" dirty="0"/>
          </a:p>
          <a:p>
            <a:pPr lvl="1" eaLnBrk="0" fontAlgn="base" hangingPunct="0">
              <a:lnSpc>
                <a:spcPct val="95000"/>
              </a:lnSpc>
            </a:pPr>
            <a:r>
              <a:rPr lang="fr-FR" sz="1200" dirty="0"/>
              <a:t>Moyenne du prix : </a:t>
            </a:r>
            <a:r>
              <a:rPr lang="fr-FR" sz="1200" dirty="0" smtClean="0"/>
              <a:t>32.33</a:t>
            </a:r>
            <a:endParaRPr lang="fr-FR" sz="1200" dirty="0"/>
          </a:p>
          <a:p>
            <a:pPr lvl="1" eaLnBrk="0" fontAlgn="base" hangingPunct="0">
              <a:lnSpc>
                <a:spcPct val="95000"/>
              </a:lnSpc>
            </a:pPr>
            <a:r>
              <a:rPr lang="fr-FR" sz="1200" dirty="0"/>
              <a:t>Écart-type du prix : </a:t>
            </a:r>
            <a:r>
              <a:rPr lang="fr-FR" sz="1200" dirty="0" smtClean="0"/>
              <a:t>27.59</a:t>
            </a:r>
            <a:endParaRPr lang="fr-FR" sz="1200" dirty="0"/>
          </a:p>
          <a:p>
            <a:pPr lvl="1" eaLnBrk="0" fontAlgn="base" hangingPunct="0">
              <a:lnSpc>
                <a:spcPct val="95000"/>
              </a:lnSpc>
            </a:pPr>
            <a:r>
              <a:rPr lang="fr-FR" sz="1200" dirty="0"/>
              <a:t>Confirme la présence de prix </a:t>
            </a:r>
            <a:r>
              <a:rPr lang="fr-FR" sz="1200" dirty="0" smtClean="0"/>
              <a:t>extrêmes</a:t>
            </a:r>
          </a:p>
          <a:p>
            <a:pPr marL="457200" lvl="1" indent="-342900" eaLnBrk="0" fontAlgn="base" hangingPunct="0">
              <a:lnSpc>
                <a:spcPct val="95000"/>
              </a:lnSpc>
              <a:buSzPts val="1800"/>
              <a:buFont typeface="Arial"/>
              <a:buChar char="●"/>
            </a:pPr>
            <a:r>
              <a:rPr lang="fr-FR" sz="1200" dirty="0"/>
              <a:t>Méthode de l’IQR :</a:t>
            </a:r>
          </a:p>
          <a:p>
            <a:pPr lvl="1" eaLnBrk="0" fontAlgn="base" hangingPunct="0">
              <a:lnSpc>
                <a:spcPct val="95000"/>
              </a:lnSpc>
            </a:pPr>
            <a:r>
              <a:rPr lang="fr-FR" sz="1200" dirty="0"/>
              <a:t>Seuils : inf. = -27,95 €, sup. = 84,09 €</a:t>
            </a:r>
          </a:p>
          <a:p>
            <a:pPr lvl="1" eaLnBrk="0" fontAlgn="base" hangingPunct="0">
              <a:lnSpc>
                <a:spcPct val="95000"/>
              </a:lnSpc>
            </a:pPr>
            <a:r>
              <a:rPr lang="fr-FR" sz="1200" dirty="0"/>
              <a:t>31 produits </a:t>
            </a:r>
            <a:r>
              <a:rPr lang="fr-FR" sz="1200" dirty="0" smtClean="0"/>
              <a:t>outlier </a:t>
            </a:r>
            <a:r>
              <a:rPr lang="fr-FR" sz="1200" dirty="0"/>
              <a:t>→ </a:t>
            </a:r>
            <a:r>
              <a:rPr lang="fr-FR" sz="1200" dirty="0" smtClean="0"/>
              <a:t>4,33% </a:t>
            </a:r>
            <a:r>
              <a:rPr lang="fr-FR" sz="1200" dirty="0"/>
              <a:t>du </a:t>
            </a:r>
            <a:r>
              <a:rPr lang="fr-FR" sz="1200" dirty="0" smtClean="0"/>
              <a:t>catalogue</a:t>
            </a:r>
            <a:endParaRPr lang="fr-FR" sz="1200" dirty="0"/>
          </a:p>
          <a:p>
            <a:pPr marL="0" indent="0" eaLnBrk="0" fontAlgn="base" hangingPunct="0">
              <a:lnSpc>
                <a:spcPct val="95000"/>
              </a:lnSpc>
              <a:buNone/>
            </a:pPr>
            <a:r>
              <a:rPr lang="fr-FR" altLang="fr-FR" sz="1500" b="1" u="sng" dirty="0"/>
              <a:t>Analyse des outliers :</a:t>
            </a:r>
          </a:p>
          <a:p>
            <a:pPr marL="114300" eaLnBrk="0" fontAlgn="base" hangingPunct="0">
              <a:lnSpc>
                <a:spcPct val="95000"/>
              </a:lnSpc>
            </a:pPr>
            <a:endParaRPr lang="fr-FR" altLang="fr-FR" sz="1500" b="1" u="sng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altLang="fr-FR" sz="1200" dirty="0"/>
              <a:t>Comparaison Price vs purchase_price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altLang="fr-FR" sz="1200" dirty="0"/>
              <a:t>Ratio prix/achat souvent &gt; 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altLang="fr-FR" sz="1200" dirty="0"/>
              <a:t>Tous les outliers sont en promotion (onsale_web = Oui)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altLang="fr-FR" sz="1200" dirty="0"/>
              <a:t>Écart mesuré par rapport à la médiane de catégorie</a:t>
            </a:r>
          </a:p>
          <a:p>
            <a:pPr marL="596900" lvl="1" indent="0" defTabSz="914400" eaLnBrk="0" fontAlgn="base" latinLnBrk="0" hangingPunct="0">
              <a:lnSpc>
                <a:spcPct val="95000"/>
              </a:lnSpc>
              <a:buNone/>
              <a:tabLst/>
            </a:pPr>
            <a:endParaRPr lang="fr-FR" altLang="fr-FR" sz="1200" dirty="0" smtClean="0"/>
          </a:p>
          <a:p>
            <a:pPr marL="11430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54726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Espace réservé du text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6321" y="1995484"/>
            <a:ext cx="8441316" cy="1297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114300" lvl="0" indent="0" eaLnBrk="0" fontAlgn="base" hangingPunct="0">
              <a:lnSpc>
                <a:spcPct val="95000"/>
              </a:lnSpc>
              <a:buNone/>
            </a:pPr>
            <a:r>
              <a:rPr lang="fr-FR" altLang="fr-FR" sz="1500" b="1" u="sng" dirty="0" smtClean="0"/>
              <a:t>Limites de l’analyse:</a:t>
            </a:r>
          </a:p>
          <a:p>
            <a:pPr marL="114300" lvl="0" indent="0" eaLnBrk="0" fontAlgn="base" hangingPunct="0">
              <a:lnSpc>
                <a:spcPct val="95000"/>
              </a:lnSpc>
              <a:buFont typeface="Arial"/>
              <a:buNone/>
            </a:pPr>
            <a:endParaRPr lang="fr-FR" altLang="fr-FR" sz="1200" dirty="0" smtClean="0"/>
          </a:p>
          <a:p>
            <a:pPr lvl="1" eaLnBrk="0" fontAlgn="base" hangingPunct="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fr-FR" altLang="fr-FR" sz="1200" dirty="0"/>
              <a:t>Les outliers sont justifiés dans la majorité des cas (promotions, produits haut de gamme) .</a:t>
            </a:r>
          </a:p>
          <a:p>
            <a:pPr marL="114300" lvl="1" indent="0" eaLnBrk="0" fontAlgn="base" hangingPunct="0">
              <a:lnSpc>
                <a:spcPct val="95000"/>
              </a:lnSpc>
              <a:buFont typeface="Arial"/>
              <a:buNone/>
            </a:pPr>
            <a:endParaRPr lang="fr-FR" altLang="fr-FR" sz="1200" dirty="0"/>
          </a:p>
          <a:p>
            <a:pPr lvl="1" eaLnBrk="0" fontAlgn="base" hangingPunct="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fr-FR" altLang="fr-FR" sz="1200" dirty="0"/>
              <a:t>Nécessité d’un retour métier pour confirmer les écarts .</a:t>
            </a:r>
          </a:p>
          <a:p>
            <a:pPr marL="114300" lvl="1" indent="0" eaLnBrk="0" fontAlgn="base" hangingPunct="0">
              <a:lnSpc>
                <a:spcPct val="95000"/>
              </a:lnSpc>
              <a:buFont typeface="Arial"/>
              <a:buNone/>
            </a:pPr>
            <a:endParaRPr lang="fr-FR" altLang="fr-FR" sz="1200" dirty="0"/>
          </a:p>
          <a:p>
            <a:pPr lvl="1" eaLnBrk="0" fontAlgn="base" hangingPunct="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fr-FR" altLang="fr-FR" sz="1200" dirty="0"/>
              <a:t>Pas de pondération par volume vendu ni segmentation avancée .</a:t>
            </a:r>
          </a:p>
        </p:txBody>
      </p:sp>
    </p:spTree>
    <p:extLst>
      <p:ext uri="{BB962C8B-B14F-4D97-AF65-F5344CB8AC3E}">
        <p14:creationId xmlns:p14="http://schemas.microsoft.com/office/powerpoint/2010/main" val="2314920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-13855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lvl="0" indent="0">
              <a:buNone/>
            </a:pPr>
            <a:r>
              <a:rPr lang="fr-FR" b="1" u="sng" dirty="0" smtClean="0"/>
              <a:t>Méthodes statistiques employées:</a:t>
            </a:r>
          </a:p>
          <a:p>
            <a:pPr lvl="0"/>
            <a:r>
              <a:rPr lang="fr-FR" dirty="0" smtClean="0"/>
              <a:t>Calcul </a:t>
            </a:r>
            <a:r>
              <a:rPr lang="fr-FR" dirty="0"/>
              <a:t>du </a:t>
            </a:r>
            <a:r>
              <a:rPr lang="fr-FR" b="1" dirty="0"/>
              <a:t>chiffre d’affaires</a:t>
            </a:r>
            <a:r>
              <a:rPr lang="fr-FR" dirty="0"/>
              <a:t> (CA) par produit et total  Le chiffre d'affaires total sur le site web est : </a:t>
            </a:r>
            <a:endParaRPr lang="fr-FR" dirty="0" smtClean="0"/>
          </a:p>
          <a:p>
            <a:pPr marL="114300" lvl="0" indent="0">
              <a:buNone/>
            </a:pPr>
            <a:r>
              <a:rPr lang="fr-FR" b="1" dirty="0"/>
              <a:t> </a:t>
            </a:r>
            <a:r>
              <a:rPr lang="fr-FR" b="1" dirty="0" smtClean="0"/>
              <a:t>     143680.10 €</a:t>
            </a:r>
            <a:endParaRPr lang="fr-FR" b="1" dirty="0"/>
          </a:p>
          <a:p>
            <a:pPr lvl="0"/>
            <a:r>
              <a:rPr lang="fr-FR" dirty="0"/>
              <a:t>Analyse </a:t>
            </a:r>
            <a:r>
              <a:rPr lang="fr-FR" b="1" dirty="0"/>
              <a:t>20/80</a:t>
            </a:r>
            <a:r>
              <a:rPr lang="fr-FR" dirty="0"/>
              <a:t> (Pareto) pour le CA et les </a:t>
            </a:r>
            <a:r>
              <a:rPr lang="fr-FR" dirty="0" smtClean="0"/>
              <a:t>quantités:</a:t>
            </a:r>
          </a:p>
          <a:p>
            <a:pPr marL="114300" lvl="0" indent="0">
              <a:buNone/>
            </a:pPr>
            <a:r>
              <a:rPr lang="fr-FR" dirty="0"/>
              <a:t>Nombre d'articles représentant 80 % du CA : </a:t>
            </a:r>
            <a:r>
              <a:rPr lang="fr-FR" b="1" dirty="0"/>
              <a:t>434</a:t>
            </a:r>
          </a:p>
          <a:p>
            <a:pPr marL="114300" lvl="0" indent="0">
              <a:buNone/>
            </a:pPr>
            <a:r>
              <a:rPr lang="fr-FR" dirty="0"/>
              <a:t>Ils représentent </a:t>
            </a:r>
            <a:r>
              <a:rPr lang="fr-FR" b="1" dirty="0"/>
              <a:t>60.78 % </a:t>
            </a:r>
            <a:r>
              <a:rPr lang="fr-FR" dirty="0"/>
              <a:t>du catalogue (total articles : 714)</a:t>
            </a:r>
          </a:p>
          <a:p>
            <a:pPr lvl="0"/>
            <a:r>
              <a:rPr lang="fr-FR" dirty="0"/>
              <a:t>Création des métriques de </a:t>
            </a:r>
            <a:r>
              <a:rPr lang="fr-FR" b="1" dirty="0"/>
              <a:t>rotation</a:t>
            </a:r>
            <a:r>
              <a:rPr lang="fr-FR" dirty="0"/>
              <a:t>, </a:t>
            </a:r>
            <a:r>
              <a:rPr lang="fr-FR" b="1" dirty="0"/>
              <a:t>mois de stock</a:t>
            </a:r>
            <a:r>
              <a:rPr lang="fr-FR" dirty="0"/>
              <a:t>, </a:t>
            </a:r>
            <a:r>
              <a:rPr lang="fr-FR" b="1" dirty="0"/>
              <a:t>valorisation</a:t>
            </a:r>
            <a:endParaRPr lang="fr-FR" dirty="0"/>
          </a:p>
          <a:p>
            <a:pPr lvl="0"/>
            <a:r>
              <a:rPr lang="fr-FR" dirty="0"/>
              <a:t>Calcul du </a:t>
            </a:r>
            <a:r>
              <a:rPr lang="fr-FR" b="1" dirty="0"/>
              <a:t>taux de marge</a:t>
            </a:r>
            <a:r>
              <a:rPr lang="fr-FR" dirty="0"/>
              <a:t> : (Prix - Prix achat) / Prix</a:t>
            </a:r>
          </a:p>
          <a:p>
            <a:pPr lvl="0"/>
            <a:r>
              <a:rPr lang="fr-FR" dirty="0"/>
              <a:t>Matrice de </a:t>
            </a:r>
            <a:r>
              <a:rPr lang="fr-FR" b="1" dirty="0"/>
              <a:t>corrélation</a:t>
            </a:r>
            <a:r>
              <a:rPr lang="fr-FR" dirty="0"/>
              <a:t> entre </a:t>
            </a:r>
            <a:r>
              <a:rPr lang="fr-FR" dirty="0" err="1"/>
              <a:t>stock_quantity</a:t>
            </a:r>
            <a:r>
              <a:rPr lang="fr-FR" dirty="0"/>
              <a:t>, </a:t>
            </a:r>
            <a:r>
              <a:rPr lang="fr-FR" dirty="0" err="1"/>
              <a:t>price</a:t>
            </a:r>
            <a:r>
              <a:rPr lang="fr-FR" dirty="0"/>
              <a:t>, </a:t>
            </a:r>
            <a:r>
              <a:rPr lang="fr-FR" dirty="0" err="1"/>
              <a:t>total_sales</a:t>
            </a:r>
            <a:endParaRPr lang="fr-FR" dirty="0"/>
          </a:p>
          <a:p>
            <a:endParaRPr lang="fr-FR" b="1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-13855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173183" y="1359020"/>
            <a:ext cx="8638308" cy="3758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fr-FR" sz="1200" b="1" dirty="0" smtClean="0"/>
              <a:t>Top </a:t>
            </a:r>
            <a:r>
              <a:rPr lang="fr-FR" sz="1200" b="1" dirty="0"/>
              <a:t>20 CA</a:t>
            </a:r>
            <a:r>
              <a:rPr lang="fr-FR" sz="1200" dirty="0"/>
              <a:t> : produit star à </a:t>
            </a:r>
            <a:r>
              <a:rPr lang="fr-FR" sz="1200" dirty="0" smtClean="0"/>
              <a:t>1100 </a:t>
            </a:r>
            <a:r>
              <a:rPr lang="fr-FR" sz="1200" dirty="0"/>
              <a:t>€ </a:t>
            </a:r>
            <a:r>
              <a:rPr lang="fr-FR" sz="1200" dirty="0" smtClean="0"/>
              <a:t>(coteaux champenois </a:t>
            </a:r>
            <a:r>
              <a:rPr lang="fr-FR" sz="1200" dirty="0" err="1" smtClean="0"/>
              <a:t>egly-ouriet</a:t>
            </a:r>
            <a:r>
              <a:rPr lang="fr-FR" sz="1200" dirty="0" smtClean="0"/>
              <a:t> , grand </a:t>
            </a:r>
            <a:r>
              <a:rPr lang="fr-FR" sz="1200" dirty="0" err="1" smtClean="0"/>
              <a:t>cr</a:t>
            </a:r>
            <a:r>
              <a:rPr lang="fr-FR" sz="1200" dirty="0" smtClean="0"/>
              <a:t> )</a:t>
            </a:r>
            <a:endParaRPr lang="fr-FR" sz="1200" dirty="0"/>
          </a:p>
          <a:p>
            <a:pPr marL="114300" indent="0">
              <a:buNone/>
            </a:pPr>
            <a:endParaRPr lang="fr-FR" b="1" u="sng" dirty="0"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1727450"/>
            <a:ext cx="8915400" cy="302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096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-13855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54" y="1459745"/>
            <a:ext cx="8751079" cy="276589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99655" y="4189393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fr-FR" dirty="0"/>
          </a:p>
          <a:p>
            <a:r>
              <a:rPr lang="fr-FR" dirty="0"/>
              <a:t>Nombre d'articles représentant 80% des quantités vendues : 424</a:t>
            </a:r>
          </a:p>
          <a:p>
            <a:r>
              <a:rPr lang="fr-FR" dirty="0"/>
              <a:t>Proportion dans le catalogue : 59.22%</a:t>
            </a:r>
          </a:p>
        </p:txBody>
      </p:sp>
    </p:spTree>
    <p:extLst>
      <p:ext uri="{BB962C8B-B14F-4D97-AF65-F5344CB8AC3E}">
        <p14:creationId xmlns:p14="http://schemas.microsoft.com/office/powerpoint/2010/main" val="23724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-13855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376345"/>
            <a:ext cx="8672945" cy="298715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73727" y="4568281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/>
              <a:t>Valeur totale des stocks en euros : 277305.77 €</a:t>
            </a:r>
          </a:p>
          <a:p>
            <a:r>
              <a:rPr lang="fr-FR" dirty="0"/>
              <a:t>Nombre total de produits en stock : </a:t>
            </a:r>
            <a:r>
              <a:rPr lang="fr-FR" dirty="0" smtClean="0"/>
              <a:t>16739.0</a:t>
            </a:r>
            <a:r>
              <a:rPr lang="fr-FR" dirty="0"/>
              <a:t>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8071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-13855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5" y="1459745"/>
            <a:ext cx="9144000" cy="298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315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-13855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0330"/>
            <a:ext cx="9144000" cy="29871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65859" y="4370172"/>
            <a:ext cx="36679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Taux de rotation global de l'entreprise : 0.34</a:t>
            </a:r>
          </a:p>
        </p:txBody>
      </p:sp>
    </p:spTree>
    <p:extLst>
      <p:ext uri="{BB962C8B-B14F-4D97-AF65-F5344CB8AC3E}">
        <p14:creationId xmlns:p14="http://schemas.microsoft.com/office/powerpoint/2010/main" val="2378576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-13855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41" y="1459746"/>
            <a:ext cx="6680278" cy="353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23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-13855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564206" y="1359020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fr-FR" b="1" u="sng" dirty="0"/>
              <a:t>Limites de l’analyse </a:t>
            </a:r>
            <a:r>
              <a:rPr lang="fr-FR" b="1" u="sng" dirty="0" smtClean="0"/>
              <a:t>:</a:t>
            </a:r>
          </a:p>
          <a:p>
            <a:pPr marL="114300" indent="0">
              <a:buNone/>
            </a:pPr>
            <a:endParaRPr lang="fr-FR" b="1" u="sng" dirty="0"/>
          </a:p>
          <a:p>
            <a:pPr lvl="0"/>
            <a:r>
              <a:rPr lang="fr-FR" dirty="0"/>
              <a:t>Données uniquement sur </a:t>
            </a:r>
            <a:r>
              <a:rPr lang="fr-FR" b="1" dirty="0"/>
              <a:t>1 mois</a:t>
            </a:r>
            <a:r>
              <a:rPr lang="fr-FR" dirty="0"/>
              <a:t> ➜ prudence sur les tendances</a:t>
            </a:r>
          </a:p>
          <a:p>
            <a:pPr lvl="0"/>
            <a:r>
              <a:rPr lang="fr-FR" dirty="0"/>
              <a:t>Pas de prise en compte des </a:t>
            </a:r>
            <a:r>
              <a:rPr lang="fr-FR" b="1" dirty="0"/>
              <a:t>remises réelles ou TVA variables</a:t>
            </a:r>
            <a:endParaRPr lang="fr-FR" dirty="0"/>
          </a:p>
          <a:p>
            <a:pPr lvl="0"/>
            <a:r>
              <a:rPr lang="fr-FR" dirty="0"/>
              <a:t>Les </a:t>
            </a:r>
            <a:r>
              <a:rPr lang="fr-FR" b="1" dirty="0"/>
              <a:t>marges négatives</a:t>
            </a:r>
            <a:r>
              <a:rPr lang="fr-FR" dirty="0"/>
              <a:t> peuvent être justifiées (ex : promo)</a:t>
            </a:r>
          </a:p>
          <a:p>
            <a:pPr lvl="0"/>
            <a:r>
              <a:rPr lang="fr-FR" b="1" dirty="0"/>
              <a:t>Corrélation ≠ causalité</a:t>
            </a:r>
            <a:r>
              <a:rPr lang="fr-FR" dirty="0"/>
              <a:t> : interprétation à contextualiser</a:t>
            </a:r>
          </a:p>
          <a:p>
            <a:r>
              <a:rPr lang="fr-FR" dirty="0" smtClean="0"/>
              <a:t>Stocks </a:t>
            </a:r>
            <a:r>
              <a:rPr lang="fr-FR" dirty="0"/>
              <a:t>dormants à faible rotation = risque de surstock</a:t>
            </a:r>
          </a:p>
          <a:p>
            <a:pPr marL="114300" indent="0">
              <a:buNone/>
            </a:pPr>
            <a:endParaRPr lang="fr-FR" b="1" u="sng" dirty="0"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748493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fr-FR" b="1" u="sng" dirty="0"/>
              <a:t>Amélioration de la qualité des </a:t>
            </a:r>
            <a:r>
              <a:rPr lang="fr-FR" b="1" u="sng" dirty="0" smtClean="0"/>
              <a:t>données:</a:t>
            </a:r>
            <a:endParaRPr lang="fr-FR" b="1" u="sng" dirty="0"/>
          </a:p>
          <a:p>
            <a:r>
              <a:rPr lang="fr-FR" sz="1500" dirty="0"/>
              <a:t>Mettre en place des </a:t>
            </a:r>
            <a:r>
              <a:rPr lang="fr-FR" sz="1500" b="1" dirty="0"/>
              <a:t>scripts de validation automatique</a:t>
            </a:r>
            <a:r>
              <a:rPr lang="fr-FR" sz="1500" dirty="0"/>
              <a:t> (prix, marges, références)</a:t>
            </a:r>
          </a:p>
          <a:p>
            <a:r>
              <a:rPr lang="fr-FR" sz="1500" dirty="0"/>
              <a:t>Standardiser les formats (SKU, majuscules/minuscules, prix)</a:t>
            </a:r>
          </a:p>
          <a:p>
            <a:r>
              <a:rPr lang="fr-FR" sz="1500" dirty="0"/>
              <a:t>Créer des </a:t>
            </a:r>
            <a:r>
              <a:rPr lang="fr-FR" sz="1500" b="1" dirty="0"/>
              <a:t>règles métiers</a:t>
            </a:r>
            <a:r>
              <a:rPr lang="fr-FR" sz="1500" dirty="0"/>
              <a:t> pour éviter les saisies incohérentes (prix trop bas, marge négative</a:t>
            </a:r>
            <a:r>
              <a:rPr lang="fr-FR" sz="1500" dirty="0" smtClean="0"/>
              <a:t>)</a:t>
            </a:r>
          </a:p>
          <a:p>
            <a:pPr marL="114300" indent="0">
              <a:buNone/>
            </a:pPr>
            <a:r>
              <a:rPr lang="fr-FR" sz="1600" b="1" u="sng" dirty="0"/>
              <a:t>Optimisation du catalogue </a:t>
            </a:r>
            <a:r>
              <a:rPr lang="fr-FR" sz="1600" b="1" u="sng" dirty="0" smtClean="0"/>
              <a:t>produit:</a:t>
            </a:r>
            <a:endParaRPr lang="fr-FR" sz="1600" b="1" u="sng" dirty="0"/>
          </a:p>
          <a:p>
            <a:r>
              <a:rPr lang="fr-FR" sz="1500" dirty="0"/>
              <a:t>Mettre en avant les </a:t>
            </a:r>
            <a:r>
              <a:rPr lang="fr-FR" sz="1500" b="1" dirty="0"/>
              <a:t>produits à forte marge</a:t>
            </a:r>
            <a:r>
              <a:rPr lang="fr-FR" sz="1500" dirty="0"/>
              <a:t> et rotation rapide</a:t>
            </a:r>
          </a:p>
          <a:p>
            <a:r>
              <a:rPr lang="fr-FR" sz="1500" dirty="0"/>
              <a:t>Identifier et </a:t>
            </a:r>
            <a:r>
              <a:rPr lang="fr-FR" sz="1500" b="1" dirty="0"/>
              <a:t>désactiver les produits dormants</a:t>
            </a:r>
            <a:endParaRPr lang="fr-FR" sz="1500" dirty="0"/>
          </a:p>
          <a:p>
            <a:r>
              <a:rPr lang="fr-FR" sz="1500" dirty="0"/>
              <a:t>Réévaluer les produits à </a:t>
            </a:r>
            <a:r>
              <a:rPr lang="fr-FR" sz="1500" b="1" dirty="0"/>
              <a:t>marge négative</a:t>
            </a:r>
            <a:endParaRPr lang="fr-FR" sz="1500" dirty="0"/>
          </a:p>
          <a:p>
            <a:pPr marL="114300" indent="0">
              <a:buNone/>
            </a:pPr>
            <a:r>
              <a:rPr lang="fr-FR" sz="1600" b="1" u="sng" dirty="0"/>
              <a:t>Suivi régulier des </a:t>
            </a:r>
            <a:r>
              <a:rPr lang="fr-FR" sz="1600" b="1" u="sng" dirty="0" smtClean="0"/>
              <a:t>indicateurs:</a:t>
            </a:r>
            <a:endParaRPr lang="fr-FR" sz="1600" b="1" u="sng" dirty="0"/>
          </a:p>
          <a:p>
            <a:r>
              <a:rPr lang="fr-FR" sz="1400" dirty="0"/>
              <a:t>Mettre en place un </a:t>
            </a:r>
            <a:r>
              <a:rPr lang="fr-FR" sz="1400" b="1" dirty="0" err="1"/>
              <a:t>dashboard</a:t>
            </a:r>
            <a:r>
              <a:rPr lang="fr-FR" sz="1400" b="1" dirty="0"/>
              <a:t> dynamique</a:t>
            </a:r>
            <a:r>
              <a:rPr lang="fr-FR" sz="1400" dirty="0"/>
              <a:t> (CA, marges, mois de stock)</a:t>
            </a:r>
          </a:p>
          <a:p>
            <a:r>
              <a:rPr lang="fr-FR" sz="1400" dirty="0"/>
              <a:t>Suivre mensuellement la </a:t>
            </a:r>
            <a:r>
              <a:rPr lang="fr-FR" sz="1400" b="1" dirty="0"/>
              <a:t>rotation des stocks</a:t>
            </a:r>
            <a:endParaRPr lang="fr-FR" sz="1400" dirty="0"/>
          </a:p>
          <a:p>
            <a:r>
              <a:rPr lang="fr-FR" sz="1400" dirty="0"/>
              <a:t>Créer des alertes pour les produits en surstock ou non vendus</a:t>
            </a:r>
          </a:p>
          <a:p>
            <a:endParaRPr lang="fr-FR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fr-FR" dirty="0" smtClean="0"/>
              <a:t>    Ce </a:t>
            </a:r>
            <a:r>
              <a:rPr lang="fr-FR" dirty="0"/>
              <a:t>qui a bien fonctionné pour moi dans ce travail de nettoyage, c’est la première étape, qui consistait à exporter les données, charger les librairies et procéder au nettoyage des données. J'ai trouvé cela assez fluide et structuré. En revanche, l’étape qui m'a paru la plus difficile a été celle de l'obtention des résultats corrects, comme pour le chiffre d'affaires, où il y a eu des défis à surmonter pour garantir la précision des calculs.</a:t>
            </a:r>
          </a:p>
          <a:p>
            <a:pPr marL="114300" indent="0">
              <a:buNone/>
            </a:pPr>
            <a:r>
              <a:rPr lang="fr-FR" dirty="0"/>
              <a:t>Enfin, je pense que la tâche sur laquelle j’aurai besoin de plus d’entraînement est le travail sur Python, en particulier l'apprentissage du code pour affiner et optimiser mes </a:t>
            </a:r>
            <a:r>
              <a:rPr lang="fr-FR" dirty="0" smtClean="0"/>
              <a:t>analyses.</a:t>
            </a:r>
            <a:endParaRPr lang="fr-FR" dirty="0"/>
          </a:p>
          <a:p>
            <a:pPr marL="114300" indent="0">
              <a:buNone/>
            </a:pPr>
            <a:endParaRPr dirty="0"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15980</TotalTime>
  <Words>1292</Words>
  <Application>Microsoft Office PowerPoint</Application>
  <PresentationFormat>Affichage à l'écran (16:9)</PresentationFormat>
  <Paragraphs>172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2" baseType="lpstr">
      <vt:lpstr>Arial</vt:lpstr>
      <vt:lpstr>Montserrat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labhih safae</cp:lastModifiedBy>
  <cp:revision>63</cp:revision>
  <dcterms:modified xsi:type="dcterms:W3CDTF">2025-05-07T17:03:25Z</dcterms:modified>
</cp:coreProperties>
</file>